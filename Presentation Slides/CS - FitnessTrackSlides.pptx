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EE4A3E-0892-4C75-B7E8-E589975B52B5}">
  <a:tblStyle styleId="{D9EE4A3E-0892-4C75-B7E8-E589975B52B5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fill>
          <a:solidFill>
            <a:schemeClr val="accent1">
              <a:alpha val="20000"/>
            </a:schemeClr>
          </a:solidFill>
        </a:fill>
      </a:tcStyle>
    </a:band1H>
    <a:band2H>
      <a:tcTxStyle/>
    </a:band2H>
    <a:band1V>
      <a:tcTxStyle/>
      <a:tcStyle>
        <a:fill>
          <a:solidFill>
            <a:schemeClr val="accent1">
              <a:alpha val="20000"/>
            </a:schemeClr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</a:seCell>
    <a:swCell>
      <a:tcTxStyle/>
    </a:swCell>
    <a:firstRow>
      <a:tcTxStyle b="on" i="off"/>
      <a:tcStyle>
        <a:tcBdr>
          <a:bottom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white, street&#10;&#10;Description automatically generated" id="17" name="Google Shape;17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2"/>
          <p:cNvSpPr txBox="1"/>
          <p:nvPr>
            <p:ph type="ctrTitle"/>
          </p:nvPr>
        </p:nvSpPr>
        <p:spPr>
          <a:xfrm>
            <a:off x="1048603" y="1469764"/>
            <a:ext cx="10094794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1524000" y="401767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title"/>
          </p:nvPr>
        </p:nvSpPr>
        <p:spPr>
          <a:xfrm>
            <a:off x="2527299" y="681036"/>
            <a:ext cx="8826500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" name="Google Shape;25;p3"/>
          <p:cNvSpPr txBox="1"/>
          <p:nvPr>
            <p:ph idx="1" type="body"/>
          </p:nvPr>
        </p:nvSpPr>
        <p:spPr>
          <a:xfrm>
            <a:off x="2527299" y="1825627"/>
            <a:ext cx="8826501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idx="1" type="body"/>
          </p:nvPr>
        </p:nvSpPr>
        <p:spPr>
          <a:xfrm>
            <a:off x="7006856" y="1825625"/>
            <a:ext cx="4348532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" name="Google Shape;31;p4"/>
          <p:cNvSpPr txBox="1"/>
          <p:nvPr>
            <p:ph type="title"/>
          </p:nvPr>
        </p:nvSpPr>
        <p:spPr>
          <a:xfrm>
            <a:off x="2369126" y="681036"/>
            <a:ext cx="8984673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2" type="body"/>
          </p:nvPr>
        </p:nvSpPr>
        <p:spPr>
          <a:xfrm>
            <a:off x="7006856" y="2640013"/>
            <a:ext cx="4346943" cy="35369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3" type="body"/>
          </p:nvPr>
        </p:nvSpPr>
        <p:spPr>
          <a:xfrm>
            <a:off x="2369126" y="1825625"/>
            <a:ext cx="4348532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4" name="Google Shape;34;p4"/>
          <p:cNvSpPr txBox="1"/>
          <p:nvPr>
            <p:ph idx="4" type="body"/>
          </p:nvPr>
        </p:nvSpPr>
        <p:spPr>
          <a:xfrm>
            <a:off x="2369126" y="2640013"/>
            <a:ext cx="4346943" cy="35369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 showMasterSp="0">
  <p:cSld name="7_Title and Conten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5"/>
          <p:cNvSpPr txBox="1"/>
          <p:nvPr>
            <p:ph type="title"/>
          </p:nvPr>
        </p:nvSpPr>
        <p:spPr>
          <a:xfrm>
            <a:off x="666044" y="681036"/>
            <a:ext cx="1068775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666044" y="6377783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3833027" y="637778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5"/>
          <p:cNvSpPr txBox="1"/>
          <p:nvPr>
            <p:ph idx="1" type="body"/>
          </p:nvPr>
        </p:nvSpPr>
        <p:spPr>
          <a:xfrm>
            <a:off x="666045" y="1825627"/>
            <a:ext cx="10687756" cy="4351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 showMasterSp="0">
  <p:cSld name="1_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white, street&#10;&#10;Description automatically generated" id="43" name="Google Shape;4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/>
          <p:nvPr>
            <p:ph idx="1" type="subTitle"/>
          </p:nvPr>
        </p:nvSpPr>
        <p:spPr>
          <a:xfrm>
            <a:off x="1524000" y="1754373"/>
            <a:ext cx="9144000" cy="39190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and Content" showMasterSp="0">
  <p:cSld name="3_Title and Conten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idx="12" type="sldNum"/>
          </p:nvPr>
        </p:nvSpPr>
        <p:spPr>
          <a:xfrm>
            <a:off x="9144000" y="546293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A picture containing monitor, indoor, television, sitting&#10;&#10;Description automatically generated" id="47" name="Google Shape;4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/>
          <p:nvPr>
            <p:ph type="title"/>
          </p:nvPr>
        </p:nvSpPr>
        <p:spPr>
          <a:xfrm>
            <a:off x="2369126" y="1709738"/>
            <a:ext cx="8978324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8"/>
          <p:cNvSpPr txBox="1"/>
          <p:nvPr>
            <p:ph idx="1" type="body"/>
          </p:nvPr>
        </p:nvSpPr>
        <p:spPr>
          <a:xfrm>
            <a:off x="2369126" y="4589463"/>
            <a:ext cx="8978324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2527299" y="681036"/>
            <a:ext cx="8826500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369125" y="1825625"/>
            <a:ext cx="4346943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  <a:defRPr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>
                <a:solidFill>
                  <a:schemeClr val="accent1"/>
                </a:solidFill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>
                <a:solidFill>
                  <a:schemeClr val="accen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9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7006856" y="1825625"/>
            <a:ext cx="4346943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  <a:defRPr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>
                <a:solidFill>
                  <a:schemeClr val="accent1"/>
                </a:solidFill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>
                <a:solidFill>
                  <a:schemeClr val="accen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showMasterSp="0" type="obj">
  <p:cSld name="OBJEC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0"/>
          <p:cNvSpPr txBox="1"/>
          <p:nvPr>
            <p:ph type="title"/>
          </p:nvPr>
        </p:nvSpPr>
        <p:spPr>
          <a:xfrm>
            <a:off x="2369126" y="852775"/>
            <a:ext cx="8984673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2369126" y="1963881"/>
            <a:ext cx="8984674" cy="4213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ection Header" showMasterSp="0">
  <p:cSld name="1_Section 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1"/>
          <p:cNvSpPr txBox="1"/>
          <p:nvPr>
            <p:ph type="title"/>
          </p:nvPr>
        </p:nvSpPr>
        <p:spPr>
          <a:xfrm>
            <a:off x="2369126" y="1709738"/>
            <a:ext cx="8978324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" type="body"/>
          </p:nvPr>
        </p:nvSpPr>
        <p:spPr>
          <a:xfrm>
            <a:off x="2369126" y="4589463"/>
            <a:ext cx="8978324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2" name="Google Shape;72;p11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wo Content" showMasterSp="0">
  <p:cSld name="1_Two Conten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 txBox="1"/>
          <p:nvPr>
            <p:ph type="title"/>
          </p:nvPr>
        </p:nvSpPr>
        <p:spPr>
          <a:xfrm>
            <a:off x="2369126" y="797442"/>
            <a:ext cx="8984673" cy="8932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" type="body"/>
          </p:nvPr>
        </p:nvSpPr>
        <p:spPr>
          <a:xfrm>
            <a:off x="2369125" y="1825625"/>
            <a:ext cx="4346943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7006856" y="1825625"/>
            <a:ext cx="4346943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mparison" showMasterSp="0">
  <p:cSld name="1_Comparison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7006856" y="1825625"/>
            <a:ext cx="4348532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6" name="Google Shape;86;p13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9" name="Google Shape;89;p13"/>
          <p:cNvSpPr txBox="1"/>
          <p:nvPr>
            <p:ph idx="2" type="body"/>
          </p:nvPr>
        </p:nvSpPr>
        <p:spPr>
          <a:xfrm>
            <a:off x="7006856" y="2640013"/>
            <a:ext cx="4346943" cy="35369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13"/>
          <p:cNvSpPr txBox="1"/>
          <p:nvPr>
            <p:ph idx="3" type="body"/>
          </p:nvPr>
        </p:nvSpPr>
        <p:spPr>
          <a:xfrm>
            <a:off x="2369126" y="1825625"/>
            <a:ext cx="4348532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91" name="Google Shape;91;p13"/>
          <p:cNvSpPr txBox="1"/>
          <p:nvPr>
            <p:ph idx="4" type="body"/>
          </p:nvPr>
        </p:nvSpPr>
        <p:spPr>
          <a:xfrm>
            <a:off x="2369126" y="2640013"/>
            <a:ext cx="4346943" cy="35369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13"/>
          <p:cNvSpPr txBox="1"/>
          <p:nvPr>
            <p:ph type="title"/>
          </p:nvPr>
        </p:nvSpPr>
        <p:spPr>
          <a:xfrm>
            <a:off x="2369126" y="797442"/>
            <a:ext cx="8984673" cy="8932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Section Header" showMasterSp="0">
  <p:cSld name="2_Section Header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>
            <p:ph type="title"/>
          </p:nvPr>
        </p:nvSpPr>
        <p:spPr>
          <a:xfrm>
            <a:off x="666044" y="1709738"/>
            <a:ext cx="10681405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4"/>
          <p:cNvSpPr txBox="1"/>
          <p:nvPr>
            <p:ph idx="1" type="body"/>
          </p:nvPr>
        </p:nvSpPr>
        <p:spPr>
          <a:xfrm>
            <a:off x="666044" y="4589463"/>
            <a:ext cx="10681406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p14"/>
          <p:cNvSpPr txBox="1"/>
          <p:nvPr>
            <p:ph idx="10" type="dt"/>
          </p:nvPr>
        </p:nvSpPr>
        <p:spPr>
          <a:xfrm>
            <a:off x="666044" y="6383254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11" type="ftr"/>
          </p:nvPr>
        </p:nvSpPr>
        <p:spPr>
          <a:xfrm>
            <a:off x="3833027" y="638325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4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wo Content" showMasterSp="0">
  <p:cSld name="2_Two Conten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>
            <p:ph idx="1" type="body"/>
          </p:nvPr>
        </p:nvSpPr>
        <p:spPr>
          <a:xfrm>
            <a:off x="666044" y="1825625"/>
            <a:ext cx="5274736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  <a:defRPr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>
                <a:solidFill>
                  <a:schemeClr val="accent1"/>
                </a:solidFill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>
                <a:solidFill>
                  <a:schemeClr val="accen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5"/>
          <p:cNvSpPr txBox="1"/>
          <p:nvPr>
            <p:ph type="title"/>
          </p:nvPr>
        </p:nvSpPr>
        <p:spPr>
          <a:xfrm>
            <a:off x="666044" y="681036"/>
            <a:ext cx="1068775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5"/>
          <p:cNvSpPr txBox="1"/>
          <p:nvPr>
            <p:ph idx="10" type="dt"/>
          </p:nvPr>
        </p:nvSpPr>
        <p:spPr>
          <a:xfrm>
            <a:off x="666044" y="6377782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 txBox="1"/>
          <p:nvPr>
            <p:ph idx="11" type="ftr"/>
          </p:nvPr>
        </p:nvSpPr>
        <p:spPr>
          <a:xfrm>
            <a:off x="3833027" y="637778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15"/>
          <p:cNvSpPr txBox="1"/>
          <p:nvPr>
            <p:ph idx="2" type="body"/>
          </p:nvPr>
        </p:nvSpPr>
        <p:spPr>
          <a:xfrm>
            <a:off x="6079063" y="1825625"/>
            <a:ext cx="5274736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  <a:defRPr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>
                <a:solidFill>
                  <a:schemeClr val="accent1"/>
                </a:solidFill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>
                <a:solidFill>
                  <a:schemeClr val="accen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omparison" showMasterSp="0">
  <p:cSld name="2_Comparison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6"/>
          <p:cNvSpPr txBox="1"/>
          <p:nvPr>
            <p:ph idx="10" type="dt"/>
          </p:nvPr>
        </p:nvSpPr>
        <p:spPr>
          <a:xfrm>
            <a:off x="666043" y="6377253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16"/>
          <p:cNvSpPr txBox="1"/>
          <p:nvPr>
            <p:ph idx="11" type="ftr"/>
          </p:nvPr>
        </p:nvSpPr>
        <p:spPr>
          <a:xfrm>
            <a:off x="3833026" y="63772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16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3" name="Google Shape;113;p16"/>
          <p:cNvSpPr txBox="1"/>
          <p:nvPr>
            <p:ph type="title"/>
          </p:nvPr>
        </p:nvSpPr>
        <p:spPr>
          <a:xfrm>
            <a:off x="666044" y="681036"/>
            <a:ext cx="1068775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666043" y="1824567"/>
            <a:ext cx="5274735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5" name="Google Shape;115;p16"/>
          <p:cNvSpPr txBox="1"/>
          <p:nvPr>
            <p:ph idx="2" type="body"/>
          </p:nvPr>
        </p:nvSpPr>
        <p:spPr>
          <a:xfrm>
            <a:off x="666044" y="2640013"/>
            <a:ext cx="5274736" cy="3536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  <a:defRPr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>
                <a:solidFill>
                  <a:schemeClr val="accent1"/>
                </a:solidFill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>
                <a:solidFill>
                  <a:schemeClr val="accen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3" type="body"/>
          </p:nvPr>
        </p:nvSpPr>
        <p:spPr>
          <a:xfrm>
            <a:off x="6079064" y="1824567"/>
            <a:ext cx="5274735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7" name="Google Shape;117;p16"/>
          <p:cNvSpPr txBox="1"/>
          <p:nvPr>
            <p:ph idx="4" type="body"/>
          </p:nvPr>
        </p:nvSpPr>
        <p:spPr>
          <a:xfrm>
            <a:off x="6079065" y="2640013"/>
            <a:ext cx="5274736" cy="3536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  <a:defRPr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>
                <a:solidFill>
                  <a:schemeClr val="accent1"/>
                </a:solidFill>
              </a:defRPr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>
                <a:solidFill>
                  <a:schemeClr val="accent1"/>
                </a:solidFill>
              </a:defRPr>
            </a:lvl3pPr>
            <a:lvl4pPr indent="-3175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 showMasterSp="0">
  <p:cSld name="2_Title and Content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flat screen television&#10;&#10;Description automatically generated" id="119" name="Google Shape;11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 txBox="1"/>
          <p:nvPr>
            <p:ph type="title"/>
          </p:nvPr>
        </p:nvSpPr>
        <p:spPr>
          <a:xfrm>
            <a:off x="776176" y="681036"/>
            <a:ext cx="10639646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1" type="body"/>
          </p:nvPr>
        </p:nvSpPr>
        <p:spPr>
          <a:xfrm>
            <a:off x="776177" y="1825625"/>
            <a:ext cx="10639645" cy="35023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17"/>
          <p:cNvSpPr txBox="1"/>
          <p:nvPr>
            <p:ph idx="10" type="dt"/>
          </p:nvPr>
        </p:nvSpPr>
        <p:spPr>
          <a:xfrm>
            <a:off x="776176" y="5462940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7"/>
          <p:cNvSpPr txBox="1"/>
          <p:nvPr>
            <p:ph idx="11" type="ftr"/>
          </p:nvPr>
        </p:nvSpPr>
        <p:spPr>
          <a:xfrm>
            <a:off x="4038599" y="546293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17"/>
          <p:cNvSpPr txBox="1"/>
          <p:nvPr>
            <p:ph idx="12" type="sldNum"/>
          </p:nvPr>
        </p:nvSpPr>
        <p:spPr>
          <a:xfrm>
            <a:off x="9144000" y="546293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and Content" showMasterSp="0">
  <p:cSld name="4_Title and Conten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flat screen television&#10;&#10;Description automatically generated" id="126" name="Google Shape;126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8"/>
          <p:cNvSpPr txBox="1"/>
          <p:nvPr>
            <p:ph idx="10" type="dt"/>
          </p:nvPr>
        </p:nvSpPr>
        <p:spPr>
          <a:xfrm>
            <a:off x="776176" y="5462940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8"/>
          <p:cNvSpPr txBox="1"/>
          <p:nvPr>
            <p:ph idx="11" type="ftr"/>
          </p:nvPr>
        </p:nvSpPr>
        <p:spPr>
          <a:xfrm>
            <a:off x="4038599" y="546293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18"/>
          <p:cNvSpPr txBox="1"/>
          <p:nvPr>
            <p:ph idx="12" type="sldNum"/>
          </p:nvPr>
        </p:nvSpPr>
        <p:spPr>
          <a:xfrm>
            <a:off x="9144000" y="546293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18"/>
          <p:cNvSpPr txBox="1"/>
          <p:nvPr/>
        </p:nvSpPr>
        <p:spPr>
          <a:xfrm>
            <a:off x="776176" y="1448151"/>
            <a:ext cx="8978324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t/>
            </a:r>
            <a:endParaRPr sz="6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776176" y="4327876"/>
            <a:ext cx="8978324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776176" y="1421163"/>
            <a:ext cx="8978324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Title and Content" showMasterSp="0">
  <p:cSld name="5_Title and Conten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flat screen television&#10;&#10;Description automatically generated" id="134" name="Google Shape;134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 txBox="1"/>
          <p:nvPr>
            <p:ph type="title"/>
          </p:nvPr>
        </p:nvSpPr>
        <p:spPr>
          <a:xfrm>
            <a:off x="776176" y="681036"/>
            <a:ext cx="10639646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9"/>
          <p:cNvSpPr txBox="1"/>
          <p:nvPr>
            <p:ph idx="10" type="dt"/>
          </p:nvPr>
        </p:nvSpPr>
        <p:spPr>
          <a:xfrm>
            <a:off x="776176" y="5462940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19"/>
          <p:cNvSpPr txBox="1"/>
          <p:nvPr>
            <p:ph idx="11" type="ftr"/>
          </p:nvPr>
        </p:nvSpPr>
        <p:spPr>
          <a:xfrm>
            <a:off x="4038599" y="546293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2" type="sldNum"/>
          </p:nvPr>
        </p:nvSpPr>
        <p:spPr>
          <a:xfrm>
            <a:off x="9144000" y="546293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19"/>
          <p:cNvSpPr txBox="1"/>
          <p:nvPr>
            <p:ph idx="1" type="body"/>
          </p:nvPr>
        </p:nvSpPr>
        <p:spPr>
          <a:xfrm>
            <a:off x="776176" y="1820853"/>
            <a:ext cx="5167424" cy="3474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2" type="body"/>
          </p:nvPr>
        </p:nvSpPr>
        <p:spPr>
          <a:xfrm>
            <a:off x="6248398" y="1820852"/>
            <a:ext cx="5167424" cy="3474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Title and Content" showMasterSp="0">
  <p:cSld name="6_Title and Conten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flat screen television&#10;&#10;Description automatically generated"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>
            <p:ph type="title"/>
          </p:nvPr>
        </p:nvSpPr>
        <p:spPr>
          <a:xfrm>
            <a:off x="776176" y="681036"/>
            <a:ext cx="10639646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20"/>
          <p:cNvSpPr txBox="1"/>
          <p:nvPr>
            <p:ph idx="10" type="dt"/>
          </p:nvPr>
        </p:nvSpPr>
        <p:spPr>
          <a:xfrm>
            <a:off x="776176" y="5462940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0"/>
          <p:cNvSpPr txBox="1"/>
          <p:nvPr>
            <p:ph idx="11" type="ftr"/>
          </p:nvPr>
        </p:nvSpPr>
        <p:spPr>
          <a:xfrm>
            <a:off x="4038599" y="546293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0"/>
          <p:cNvSpPr txBox="1"/>
          <p:nvPr>
            <p:ph idx="12" type="sldNum"/>
          </p:nvPr>
        </p:nvSpPr>
        <p:spPr>
          <a:xfrm>
            <a:off x="9144000" y="546293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776176" y="2509339"/>
            <a:ext cx="5167424" cy="27856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776176" y="1820852"/>
            <a:ext cx="5167423" cy="5205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9" name="Google Shape;149;p20"/>
          <p:cNvSpPr txBox="1"/>
          <p:nvPr>
            <p:ph idx="3" type="body"/>
          </p:nvPr>
        </p:nvSpPr>
        <p:spPr>
          <a:xfrm>
            <a:off x="6248402" y="2509339"/>
            <a:ext cx="5167424" cy="27856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20"/>
          <p:cNvSpPr txBox="1"/>
          <p:nvPr>
            <p:ph idx="4" type="body"/>
          </p:nvPr>
        </p:nvSpPr>
        <p:spPr>
          <a:xfrm>
            <a:off x="6248402" y="1820852"/>
            <a:ext cx="5167423" cy="5205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21" Type="http://schemas.openxmlformats.org/officeDocument/2006/relationships/theme" Target="../theme/theme2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5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slideLayout" Target="../slideLayouts/slideLayout18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sitting, refrigerator, monitor, black&#10;&#10;Description automatically generated"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>
            <p:ph type="title"/>
          </p:nvPr>
        </p:nvSpPr>
        <p:spPr>
          <a:xfrm>
            <a:off x="2527299" y="681036"/>
            <a:ext cx="8826500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  <a:defRPr b="0" i="0" sz="36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2527300" y="1825625"/>
            <a:ext cx="88265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0" type="dt"/>
          </p:nvPr>
        </p:nvSpPr>
        <p:spPr>
          <a:xfrm>
            <a:off x="2369126" y="6383256"/>
            <a:ext cx="199505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1" type="ftr"/>
          </p:nvPr>
        </p:nvSpPr>
        <p:spPr>
          <a:xfrm>
            <a:off x="4675908" y="63832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1"/>
          <p:cNvSpPr txBox="1"/>
          <p:nvPr>
            <p:ph idx="12" type="sldNum"/>
          </p:nvPr>
        </p:nvSpPr>
        <p:spPr>
          <a:xfrm>
            <a:off x="9119754" y="63832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4248">
          <p15:clr>
            <a:srgbClr val="F26B43"/>
          </p15:clr>
        </p15:guide>
        <p15:guide id="2" pos="74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23.png"/><Relationship Id="rId5" Type="http://schemas.openxmlformats.org/officeDocument/2006/relationships/image" Target="../media/image2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9.png"/><Relationship Id="rId5" Type="http://schemas.openxmlformats.org/officeDocument/2006/relationships/image" Target="../media/image20.png"/><Relationship Id="rId6" Type="http://schemas.openxmlformats.org/officeDocument/2006/relationships/image" Target="../media/image19.png"/><Relationship Id="rId7" Type="http://schemas.openxmlformats.org/officeDocument/2006/relationships/image" Target="../media/image11.png"/><Relationship Id="rId8" Type="http://schemas.openxmlformats.org/officeDocument/2006/relationships/image" Target="../media/image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6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/>
          <p:nvPr>
            <p:ph type="ctrTitle"/>
          </p:nvPr>
        </p:nvSpPr>
        <p:spPr>
          <a:xfrm>
            <a:off x="1048603" y="1469764"/>
            <a:ext cx="10094794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</a:pPr>
            <a:r>
              <a:rPr lang="en-US"/>
              <a:t>FitnessTrack with Meal Planner</a:t>
            </a:r>
            <a:endParaRPr/>
          </a:p>
        </p:txBody>
      </p:sp>
      <p:sp>
        <p:nvSpPr>
          <p:cNvPr id="156" name="Google Shape;156;p21"/>
          <p:cNvSpPr txBox="1"/>
          <p:nvPr>
            <p:ph idx="1" type="subTitle"/>
          </p:nvPr>
        </p:nvSpPr>
        <p:spPr>
          <a:xfrm>
            <a:off x="1524000" y="401767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</a:pPr>
            <a:r>
              <a:rPr lang="en-US"/>
              <a:t>Authors: Leosbell Galvez, Wesley Del Orbe, Sabrina Valdivia</a:t>
            </a:r>
            <a:br>
              <a:rPr lang="en-US"/>
            </a:br>
            <a:r>
              <a:rPr lang="en-US"/>
              <a:t>Course: CIS 4951 – Capstone II</a:t>
            </a:r>
            <a:br>
              <a:rPr lang="en-US"/>
            </a:br>
            <a:r>
              <a:rPr lang="en-US"/>
              <a:t>Instructor: Masoud Sadjadi</a:t>
            </a:r>
            <a:br>
              <a:rPr lang="en-US"/>
            </a:br>
            <a:r>
              <a:rPr lang="en-US"/>
              <a:t>Date: Jan 12 – Apr 17,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4294967295" type="body"/>
          </p:nvPr>
        </p:nvSpPr>
        <p:spPr>
          <a:xfrm>
            <a:off x="2577470" y="1855400"/>
            <a:ext cx="4310440" cy="3762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en-US"/>
              <a:t>Fitness tracking app with integrated meal planning.</a:t>
            </a:r>
            <a:endParaRPr/>
          </a:p>
          <a:p>
            <a:pPr indent="-228600" lvl="0" marL="228600" rtl="0" algn="l">
              <a:lnSpc>
                <a:spcPct val="150000"/>
              </a:lnSpc>
              <a:spcBef>
                <a:spcPts val="28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en-US"/>
              <a:t>Uses Spoonacular API for meals and Back4App for exercise logs.</a:t>
            </a:r>
            <a:endParaRPr/>
          </a:p>
          <a:p>
            <a:pPr indent="-228600" lvl="0" marL="228600" rtl="0" algn="l">
              <a:lnSpc>
                <a:spcPct val="150000"/>
              </a:lnSpc>
              <a:spcBef>
                <a:spcPts val="28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en-US"/>
              <a:t>Provides personalized plans based on user input.</a:t>
            </a:r>
            <a:endParaRPr/>
          </a:p>
        </p:txBody>
      </p:sp>
      <p:sp>
        <p:nvSpPr>
          <p:cNvPr id="162" name="Google Shape;162;p22"/>
          <p:cNvSpPr/>
          <p:nvPr/>
        </p:nvSpPr>
        <p:spPr>
          <a:xfrm>
            <a:off x="1326993" y="845749"/>
            <a:ext cx="9608587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2"/>
          <p:cNvSpPr txBox="1"/>
          <p:nvPr>
            <p:ph type="title"/>
          </p:nvPr>
        </p:nvSpPr>
        <p:spPr>
          <a:xfrm>
            <a:off x="1604353" y="681036"/>
            <a:ext cx="8826500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</a:pPr>
            <a:r>
              <a:rPr lang="en-US" sz="3600">
                <a:solidFill>
                  <a:schemeClr val="lt1"/>
                </a:solidFill>
              </a:rPr>
              <a:t>Project Summary</a:t>
            </a:r>
            <a:endParaRPr/>
          </a:p>
        </p:txBody>
      </p:sp>
      <p:sp>
        <p:nvSpPr>
          <p:cNvPr id="164" name="Google Shape;164;p22"/>
          <p:cNvSpPr/>
          <p:nvPr/>
        </p:nvSpPr>
        <p:spPr>
          <a:xfrm>
            <a:off x="9508169" y="6603348"/>
            <a:ext cx="3011420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2"/>
          <p:cNvSpPr/>
          <p:nvPr/>
        </p:nvSpPr>
        <p:spPr>
          <a:xfrm rot="-2332232">
            <a:off x="-440560" y="115665"/>
            <a:ext cx="3011420" cy="894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22" title="spoomnacular-removebg-previe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25085" y="1690687"/>
            <a:ext cx="24384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 title="back4ap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10149" y="3220326"/>
            <a:ext cx="3825425" cy="2008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2" title="swift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99863" y="3345724"/>
            <a:ext cx="2272669" cy="22726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/>
          <p:nvPr/>
        </p:nvSpPr>
        <p:spPr>
          <a:xfrm>
            <a:off x="1326994" y="688991"/>
            <a:ext cx="4769006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26994" y="523236"/>
            <a:ext cx="4702448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</a:pPr>
            <a:r>
              <a:rPr lang="en-US" sz="3600">
                <a:solidFill>
                  <a:schemeClr val="lt1"/>
                </a:solidFill>
              </a:rPr>
              <a:t>Problem Definition</a:t>
            </a:r>
            <a:endParaRPr/>
          </a:p>
        </p:txBody>
      </p:sp>
      <p:sp>
        <p:nvSpPr>
          <p:cNvPr id="175" name="Google Shape;175;p23"/>
          <p:cNvSpPr/>
          <p:nvPr/>
        </p:nvSpPr>
        <p:spPr>
          <a:xfrm>
            <a:off x="7843443" y="687951"/>
            <a:ext cx="3889933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3"/>
          <p:cNvSpPr txBox="1"/>
          <p:nvPr/>
        </p:nvSpPr>
        <p:spPr>
          <a:xfrm>
            <a:off x="7888138" y="523237"/>
            <a:ext cx="3889933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Target Users</a:t>
            </a:r>
            <a:endParaRPr/>
          </a:p>
        </p:txBody>
      </p:sp>
      <p:sp>
        <p:nvSpPr>
          <p:cNvPr id="177" name="Google Shape;177;p23"/>
          <p:cNvSpPr txBox="1"/>
          <p:nvPr/>
        </p:nvSpPr>
        <p:spPr>
          <a:xfrm>
            <a:off x="2013448" y="1729439"/>
            <a:ext cx="3800400" cy="37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Meal planning is time-consuming and complex.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Lack of integration with fitness tracking.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Goal: Combine nutrition and exercise in one system.</a:t>
            </a:r>
            <a:endParaRPr/>
          </a:p>
        </p:txBody>
      </p:sp>
      <p:sp>
        <p:nvSpPr>
          <p:cNvPr id="178" name="Google Shape;178;p23"/>
          <p:cNvSpPr txBox="1"/>
          <p:nvPr/>
        </p:nvSpPr>
        <p:spPr>
          <a:xfrm>
            <a:off x="7888138" y="1539584"/>
            <a:ext cx="3800541" cy="3762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Students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Gym-goers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Busy individuals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People with dietary restrictions</a:t>
            </a:r>
            <a:endParaRPr/>
          </a:p>
        </p:txBody>
      </p:sp>
      <p:sp>
        <p:nvSpPr>
          <p:cNvPr id="179" name="Google Shape;179;p23"/>
          <p:cNvSpPr/>
          <p:nvPr/>
        </p:nvSpPr>
        <p:spPr>
          <a:xfrm>
            <a:off x="9508169" y="6603348"/>
            <a:ext cx="3011420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3"/>
          <p:cNvSpPr/>
          <p:nvPr/>
        </p:nvSpPr>
        <p:spPr>
          <a:xfrm rot="-2332232">
            <a:off x="-440560" y="115665"/>
            <a:ext cx="3011420" cy="894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23" title="proble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7454" y="3633420"/>
            <a:ext cx="2400700" cy="240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/>
          <p:nvPr/>
        </p:nvSpPr>
        <p:spPr>
          <a:xfrm>
            <a:off x="7452288" y="1588137"/>
            <a:ext cx="4346943" cy="2727489"/>
          </a:xfrm>
          <a:prstGeom prst="roundRect">
            <a:avLst>
              <a:gd fmla="val 16667" name="adj"/>
            </a:avLst>
          </a:prstGeom>
          <a:solidFill>
            <a:srgbClr val="C496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4"/>
          <p:cNvSpPr txBox="1"/>
          <p:nvPr>
            <p:ph type="title"/>
          </p:nvPr>
        </p:nvSpPr>
        <p:spPr>
          <a:xfrm>
            <a:off x="2369126" y="663944"/>
            <a:ext cx="8984673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b="1" lang="en-US"/>
              <a:t>System Overview</a:t>
            </a:r>
            <a:endParaRPr/>
          </a:p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7453877" y="1552155"/>
            <a:ext cx="4348532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>
                <a:solidFill>
                  <a:schemeClr val="lt1"/>
                </a:solidFill>
              </a:rPr>
              <a:t>Core Components</a:t>
            </a:r>
            <a:endParaRPr/>
          </a:p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7453877" y="2392180"/>
            <a:ext cx="4346943" cy="19490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Authentication System (user accounts)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Meal Planning generation Module which is API-based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Exercise Tracking/Logging Module which utilizes cloud database per user</a:t>
            </a:r>
            <a:endParaRPr/>
          </a:p>
        </p:txBody>
      </p:sp>
      <p:sp>
        <p:nvSpPr>
          <p:cNvPr id="190" name="Google Shape;190;p24"/>
          <p:cNvSpPr/>
          <p:nvPr/>
        </p:nvSpPr>
        <p:spPr>
          <a:xfrm>
            <a:off x="7422994" y="-442579"/>
            <a:ext cx="4769006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4"/>
          <p:cNvSpPr/>
          <p:nvPr/>
        </p:nvSpPr>
        <p:spPr>
          <a:xfrm>
            <a:off x="2516697" y="1588137"/>
            <a:ext cx="4346943" cy="4443544"/>
          </a:xfrm>
          <a:prstGeom prst="roundRect">
            <a:avLst>
              <a:gd fmla="val 16667" name="adj"/>
            </a:avLst>
          </a:prstGeom>
          <a:solidFill>
            <a:srgbClr val="C4960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4"/>
          <p:cNvSpPr txBox="1"/>
          <p:nvPr>
            <p:ph idx="1" type="body"/>
          </p:nvPr>
        </p:nvSpPr>
        <p:spPr>
          <a:xfrm>
            <a:off x="2588305" y="1654707"/>
            <a:ext cx="4348532" cy="6794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>
                <a:solidFill>
                  <a:schemeClr val="lt1"/>
                </a:solidFill>
              </a:rPr>
              <a:t>High-Level Flow</a:t>
            </a:r>
            <a:endParaRPr/>
          </a:p>
        </p:txBody>
      </p:sp>
      <p:sp>
        <p:nvSpPr>
          <p:cNvPr id="193" name="Google Shape;193;p24"/>
          <p:cNvSpPr txBox="1"/>
          <p:nvPr>
            <p:ph idx="2" type="body"/>
          </p:nvPr>
        </p:nvSpPr>
        <p:spPr>
          <a:xfrm>
            <a:off x="2537029" y="2494732"/>
            <a:ext cx="4346943" cy="35369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User signs up or logs in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Authentication is validated for the user session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Exercise logs are stored in back4app under the user’s unique ID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Exercise History View has full exercise logging history (data fetched from database)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</a:rPr>
              <a:t>Meal Plan Data is fetched from the Spoonacular API based on user preferences</a:t>
            </a:r>
            <a:endParaRPr/>
          </a:p>
        </p:txBody>
      </p:sp>
      <p:sp>
        <p:nvSpPr>
          <p:cNvPr id="194" name="Google Shape;194;p24"/>
          <p:cNvSpPr/>
          <p:nvPr/>
        </p:nvSpPr>
        <p:spPr>
          <a:xfrm rot="-2332232">
            <a:off x="-440560" y="115665"/>
            <a:ext cx="3011420" cy="894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24" title="syste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22172" y="4501836"/>
            <a:ext cx="2211939" cy="22119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5"/>
          <p:cNvSpPr txBox="1"/>
          <p:nvPr>
            <p:ph type="title"/>
          </p:nvPr>
        </p:nvSpPr>
        <p:spPr>
          <a:xfrm>
            <a:off x="666044" y="578485"/>
            <a:ext cx="1068775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/>
              <a:t>Architecture</a:t>
            </a:r>
            <a:endParaRPr/>
          </a:p>
        </p:txBody>
      </p:sp>
      <p:sp>
        <p:nvSpPr>
          <p:cNvPr id="202" name="Google Shape;202;p25"/>
          <p:cNvSpPr/>
          <p:nvPr/>
        </p:nvSpPr>
        <p:spPr>
          <a:xfrm rot="-5400000">
            <a:off x="-3083194" y="3383280"/>
            <a:ext cx="704088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666044" y="1810328"/>
            <a:ext cx="4213605" cy="37700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Authentication layer for user sessions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Meal module using Spoonacular API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Exercise module using Back4App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Combined application layer</a:t>
            </a:r>
            <a:endParaRPr/>
          </a:p>
        </p:txBody>
      </p:sp>
      <p:sp>
        <p:nvSpPr>
          <p:cNvPr id="204" name="Google Shape;204;p25"/>
          <p:cNvSpPr/>
          <p:nvPr/>
        </p:nvSpPr>
        <p:spPr>
          <a:xfrm flipH="1">
            <a:off x="10308919" y="9647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5"/>
          <p:cNvSpPr/>
          <p:nvPr/>
        </p:nvSpPr>
        <p:spPr>
          <a:xfrm flipH="1">
            <a:off x="10461319" y="11171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5"/>
          <p:cNvSpPr/>
          <p:nvPr/>
        </p:nvSpPr>
        <p:spPr>
          <a:xfrm flipH="1">
            <a:off x="10613719" y="1269572"/>
            <a:ext cx="22860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5"/>
          <p:cNvSpPr/>
          <p:nvPr/>
        </p:nvSpPr>
        <p:spPr>
          <a:xfrm flipH="1">
            <a:off x="10766119" y="1421972"/>
            <a:ext cx="2286000" cy="45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91325" y="1349250"/>
            <a:ext cx="5063137" cy="43265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type="title"/>
          </p:nvPr>
        </p:nvSpPr>
        <p:spPr>
          <a:xfrm>
            <a:off x="666044" y="612671"/>
            <a:ext cx="1068775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/>
              <a:t>Data Flow</a:t>
            </a:r>
            <a:endParaRPr/>
          </a:p>
        </p:txBody>
      </p:sp>
      <p:sp>
        <p:nvSpPr>
          <p:cNvPr id="215" name="Google Shape;215;p26"/>
          <p:cNvSpPr/>
          <p:nvPr/>
        </p:nvSpPr>
        <p:spPr>
          <a:xfrm rot="-5400000">
            <a:off x="-3083194" y="3383280"/>
            <a:ext cx="704088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6"/>
          <p:cNvSpPr txBox="1"/>
          <p:nvPr/>
        </p:nvSpPr>
        <p:spPr>
          <a:xfrm>
            <a:off x="666044" y="1810328"/>
            <a:ext cx="4213605" cy="37700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User logs in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Requests meal plan → API call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Receives fresh data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Exercise logs stored in database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Data merged in app</a:t>
            </a:r>
            <a:endParaRPr/>
          </a:p>
        </p:txBody>
      </p:sp>
      <p:sp>
        <p:nvSpPr>
          <p:cNvPr id="217" name="Google Shape;217;p26"/>
          <p:cNvSpPr/>
          <p:nvPr/>
        </p:nvSpPr>
        <p:spPr>
          <a:xfrm flipH="1">
            <a:off x="10308919" y="9647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6"/>
          <p:cNvSpPr/>
          <p:nvPr/>
        </p:nvSpPr>
        <p:spPr>
          <a:xfrm flipH="1">
            <a:off x="10461319" y="11171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6"/>
          <p:cNvSpPr/>
          <p:nvPr/>
        </p:nvSpPr>
        <p:spPr>
          <a:xfrm flipH="1">
            <a:off x="10613719" y="12695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26"/>
          <p:cNvSpPr/>
          <p:nvPr/>
        </p:nvSpPr>
        <p:spPr>
          <a:xfrm flipH="1">
            <a:off x="10766119" y="14219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1" name="Google Shape;22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3350" y="1923400"/>
            <a:ext cx="5883550" cy="2941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7"/>
          <p:cNvSpPr txBox="1"/>
          <p:nvPr/>
        </p:nvSpPr>
        <p:spPr>
          <a:xfrm>
            <a:off x="644768" y="593130"/>
            <a:ext cx="5451232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Implementation Details</a:t>
            </a:r>
            <a:endParaRPr/>
          </a:p>
        </p:txBody>
      </p:sp>
      <p:sp>
        <p:nvSpPr>
          <p:cNvPr id="228" name="Google Shape;228;p27"/>
          <p:cNvSpPr txBox="1"/>
          <p:nvPr/>
        </p:nvSpPr>
        <p:spPr>
          <a:xfrm>
            <a:off x="8268057" y="833036"/>
            <a:ext cx="3034468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Technologies Used</a:t>
            </a:r>
            <a:endParaRPr/>
          </a:p>
        </p:txBody>
      </p:sp>
      <p:sp>
        <p:nvSpPr>
          <p:cNvPr id="229" name="Google Shape;229;p27"/>
          <p:cNvSpPr txBox="1"/>
          <p:nvPr/>
        </p:nvSpPr>
        <p:spPr>
          <a:xfrm>
            <a:off x="8268057" y="3343542"/>
            <a:ext cx="2941950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Key Features</a:t>
            </a:r>
            <a:endParaRPr/>
          </a:p>
        </p:txBody>
      </p:sp>
      <p:sp>
        <p:nvSpPr>
          <p:cNvPr id="230" name="Google Shape;230;p27"/>
          <p:cNvSpPr txBox="1"/>
          <p:nvPr/>
        </p:nvSpPr>
        <p:spPr>
          <a:xfrm>
            <a:off x="8469238" y="1598666"/>
            <a:ext cx="2632105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Swift &amp; SwiftUI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Spoonacular API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Back4App database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ParseSwift dependency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 the Logos</a:t>
            </a:r>
            <a:endParaRPr/>
          </a:p>
        </p:txBody>
      </p:sp>
      <p:sp>
        <p:nvSpPr>
          <p:cNvPr id="231" name="Google Shape;231;p27"/>
          <p:cNvSpPr/>
          <p:nvPr/>
        </p:nvSpPr>
        <p:spPr>
          <a:xfrm rot="-5400000">
            <a:off x="-3083194" y="3383280"/>
            <a:ext cx="704088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7"/>
          <p:cNvSpPr txBox="1"/>
          <p:nvPr/>
        </p:nvSpPr>
        <p:spPr>
          <a:xfrm>
            <a:off x="666044" y="1562497"/>
            <a:ext cx="4213605" cy="27958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Stateless meal generation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Cloud-based exercise storage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Secure user sessions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Real-time API calls</a:t>
            </a:r>
            <a:endParaRPr/>
          </a:p>
        </p:txBody>
      </p:sp>
      <p:sp>
        <p:nvSpPr>
          <p:cNvPr id="233" name="Google Shape;233;p27"/>
          <p:cNvSpPr txBox="1"/>
          <p:nvPr/>
        </p:nvSpPr>
        <p:spPr>
          <a:xfrm>
            <a:off x="8011652" y="4333212"/>
            <a:ext cx="3547275" cy="20908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User authentication</a:t>
            </a:r>
            <a:endParaRPr/>
          </a:p>
          <a:p>
            <a:pPr indent="-228600" lvl="0" marL="228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Dynamic meal generation</a:t>
            </a:r>
            <a:endParaRPr/>
          </a:p>
          <a:p>
            <a:pPr indent="-228600" lvl="0" marL="228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Exercise logging</a:t>
            </a:r>
            <a:endParaRPr/>
          </a:p>
          <a:p>
            <a:pPr indent="-228600" lvl="0" marL="228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b="0" lang="en-US" sz="2000" u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Personalized dashboard</a:t>
            </a:r>
            <a:endParaRPr/>
          </a:p>
        </p:txBody>
      </p:sp>
      <p:sp>
        <p:nvSpPr>
          <p:cNvPr id="234" name="Google Shape;234;p27"/>
          <p:cNvSpPr/>
          <p:nvPr/>
        </p:nvSpPr>
        <p:spPr>
          <a:xfrm flipH="1">
            <a:off x="10308919" y="9647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7"/>
          <p:cNvSpPr/>
          <p:nvPr/>
        </p:nvSpPr>
        <p:spPr>
          <a:xfrm flipH="1">
            <a:off x="10461319" y="106002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6" name="Google Shape;23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6925" y="4064675"/>
            <a:ext cx="2854249" cy="217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55599" y="3343556"/>
            <a:ext cx="2827203" cy="2893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7" title="swift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961875" y="1492125"/>
            <a:ext cx="804425" cy="804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7" title="Xcode_ico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80925" y="1523425"/>
            <a:ext cx="879675" cy="87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7" title="spoomnacula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622445" y="2471856"/>
            <a:ext cx="596663" cy="596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7" title="back4app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21549" y="2403100"/>
            <a:ext cx="1398429" cy="73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7" title="spoomnacular-removebg-preview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924250" y="2380200"/>
            <a:ext cx="879675" cy="879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8"/>
          <p:cNvSpPr/>
          <p:nvPr/>
        </p:nvSpPr>
        <p:spPr>
          <a:xfrm flipH="1" rot="7963053">
            <a:off x="3876001" y="32294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8"/>
          <p:cNvSpPr/>
          <p:nvPr/>
        </p:nvSpPr>
        <p:spPr>
          <a:xfrm flipH="1" rot="7963053">
            <a:off x="4028401" y="33818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8"/>
          <p:cNvSpPr/>
          <p:nvPr/>
        </p:nvSpPr>
        <p:spPr>
          <a:xfrm flipH="1" rot="7963053">
            <a:off x="4180801" y="35342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8"/>
          <p:cNvSpPr/>
          <p:nvPr/>
        </p:nvSpPr>
        <p:spPr>
          <a:xfrm flipH="1" rot="7963053">
            <a:off x="4333201" y="36866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/>
          <p:nvPr/>
        </p:nvSpPr>
        <p:spPr>
          <a:xfrm flipH="1" rot="7963053">
            <a:off x="4485601" y="38390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2" name="Google Shape;25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28600" y="1800325"/>
            <a:ext cx="2134002" cy="465473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8"/>
          <p:cNvSpPr txBox="1"/>
          <p:nvPr>
            <p:ph type="title"/>
          </p:nvPr>
        </p:nvSpPr>
        <p:spPr>
          <a:xfrm>
            <a:off x="776176" y="681036"/>
            <a:ext cx="10639646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/>
              <a:t>I. Testing &amp; Evaluation</a:t>
            </a:r>
            <a:endParaRPr/>
          </a:p>
        </p:txBody>
      </p:sp>
      <p:sp>
        <p:nvSpPr>
          <p:cNvPr id="254" name="Google Shape;254;p28"/>
          <p:cNvSpPr/>
          <p:nvPr/>
        </p:nvSpPr>
        <p:spPr>
          <a:xfrm rot="-5400000">
            <a:off x="-3083194" y="3383280"/>
            <a:ext cx="704088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5" name="Google Shape;255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7839" y="1808161"/>
            <a:ext cx="2076255" cy="4654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20904" y="1800326"/>
            <a:ext cx="2146251" cy="4662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79832" y="1800325"/>
            <a:ext cx="2113003" cy="46625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9"/>
          <p:cNvSpPr/>
          <p:nvPr/>
        </p:nvSpPr>
        <p:spPr>
          <a:xfrm flipH="1" rot="7963053">
            <a:off x="3876001" y="32294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9"/>
          <p:cNvSpPr/>
          <p:nvPr/>
        </p:nvSpPr>
        <p:spPr>
          <a:xfrm flipH="1" rot="7963053">
            <a:off x="4028401" y="33818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9"/>
          <p:cNvSpPr/>
          <p:nvPr/>
        </p:nvSpPr>
        <p:spPr>
          <a:xfrm flipH="1" rot="7963053">
            <a:off x="4180801" y="35342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9"/>
          <p:cNvSpPr/>
          <p:nvPr/>
        </p:nvSpPr>
        <p:spPr>
          <a:xfrm flipH="1" rot="7963053">
            <a:off x="4333201" y="36866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9"/>
          <p:cNvSpPr/>
          <p:nvPr/>
        </p:nvSpPr>
        <p:spPr>
          <a:xfrm flipH="1" rot="7963053">
            <a:off x="4485601" y="3839007"/>
            <a:ext cx="1034262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8276" y="1797492"/>
            <a:ext cx="2076255" cy="4653856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9"/>
          <p:cNvSpPr txBox="1"/>
          <p:nvPr>
            <p:ph type="title"/>
          </p:nvPr>
        </p:nvSpPr>
        <p:spPr>
          <a:xfrm>
            <a:off x="776176" y="681036"/>
            <a:ext cx="10639646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/>
              <a:t>II. Testing &amp; Evaluation</a:t>
            </a:r>
            <a:endParaRPr/>
          </a:p>
        </p:txBody>
      </p:sp>
      <p:sp>
        <p:nvSpPr>
          <p:cNvPr id="269" name="Google Shape;269;p29"/>
          <p:cNvSpPr/>
          <p:nvPr/>
        </p:nvSpPr>
        <p:spPr>
          <a:xfrm rot="-5400000">
            <a:off x="-3083194" y="3383280"/>
            <a:ext cx="704088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0" name="Google Shape;270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81890" y="1796618"/>
            <a:ext cx="2134876" cy="4654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31790" y="1813242"/>
            <a:ext cx="2123502" cy="4638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91129" y="1785077"/>
            <a:ext cx="2123502" cy="4654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0"/>
          <p:cNvSpPr txBox="1"/>
          <p:nvPr>
            <p:ph type="title"/>
          </p:nvPr>
        </p:nvSpPr>
        <p:spPr>
          <a:xfrm>
            <a:off x="666044" y="681036"/>
            <a:ext cx="1068775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/>
              <a:t>III. Testing &amp; Evaluation</a:t>
            </a:r>
            <a:endParaRPr/>
          </a:p>
        </p:txBody>
      </p:sp>
      <p:graphicFrame>
        <p:nvGraphicFramePr>
          <p:cNvPr id="278" name="Google Shape;278;p30"/>
          <p:cNvGraphicFramePr/>
          <p:nvPr/>
        </p:nvGraphicFramePr>
        <p:xfrm>
          <a:off x="744100" y="145278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{D9EE4A3E-0892-4C75-B7E8-E589975B52B5}</a:tableStyleId>
              </a:tblPr>
              <a:tblGrid>
                <a:gridCol w="2298200"/>
                <a:gridCol w="2691925"/>
                <a:gridCol w="3158100"/>
                <a:gridCol w="2716075"/>
              </a:tblGrid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Test Case</a:t>
                      </a:r>
                      <a:endParaRPr sz="16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3125" marL="831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Input</a:t>
                      </a:r>
                      <a:endParaRPr sz="16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3125" marL="831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Expected Result</a:t>
                      </a:r>
                      <a:endParaRPr sz="16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3125" marL="83125" anchor="ctr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>
                          <a:latin typeface="Arial"/>
                          <a:ea typeface="Arial"/>
                          <a:cs typeface="Arial"/>
                          <a:sym typeface="Arial"/>
                        </a:rPr>
                        <a:t>Actual Result</a:t>
                      </a:r>
                      <a:endParaRPr sz="16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83125" marL="83125" anchor="ctr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User Login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Valid Credentials/Login information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Session is uniquely created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Generate Meal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Gluten-free diet restriction, user input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Fresh API response with a meal plan generated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Regenerate Meal after Refresh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Same exact request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New unique meal plan generated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Log Exercises 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4 sets of 12 reps of 60lb bicep curls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Stores in back4app correctly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Switch Users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Login to a brand-new account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Different unique data shown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Display Exercise Logs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Open log history tab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See accurate logs that were input by the user categorized by day/date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Delete Exercise Log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Delete an exercise log by sliding left on history tab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Should complete delete all associated data from the back4app database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  <a:tr h="58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Edit exercise log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Edit an exercise log by sliding left on history tab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Should edit all data that was re-inputted and correctly store it in the back4app</a:t>
                      </a:r>
                      <a:endParaRPr/>
                    </a:p>
                  </a:txBody>
                  <a:tcPr marT="45725" marB="45725" marR="83125" marL="831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</a:rPr>
                        <a:t>Success</a:t>
                      </a:r>
                      <a:endParaRPr/>
                    </a:p>
                  </a:txBody>
                  <a:tcPr marT="45725" marB="45725" marR="83125" marL="83125"/>
                </a:tc>
              </a:tr>
            </a:tbl>
          </a:graphicData>
        </a:graphic>
      </p:graphicFrame>
      <p:sp>
        <p:nvSpPr>
          <p:cNvPr id="279" name="Google Shape;279;p30"/>
          <p:cNvSpPr/>
          <p:nvPr/>
        </p:nvSpPr>
        <p:spPr>
          <a:xfrm rot="-5400000">
            <a:off x="-3083194" y="3383280"/>
            <a:ext cx="704088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0"/>
          <p:cNvSpPr/>
          <p:nvPr/>
        </p:nvSpPr>
        <p:spPr>
          <a:xfrm flipH="1">
            <a:off x="10308919" y="9647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0"/>
          <p:cNvSpPr/>
          <p:nvPr/>
        </p:nvSpPr>
        <p:spPr>
          <a:xfrm flipH="1">
            <a:off x="10461319" y="11171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0"/>
          <p:cNvSpPr/>
          <p:nvPr/>
        </p:nvSpPr>
        <p:spPr>
          <a:xfrm flipH="1">
            <a:off x="10613719" y="1269572"/>
            <a:ext cx="22860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3" name="Google Shape;283;p30" title="testin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100" y="81250"/>
            <a:ext cx="1234051" cy="1234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1"/>
          <p:cNvSpPr/>
          <p:nvPr/>
        </p:nvSpPr>
        <p:spPr>
          <a:xfrm>
            <a:off x="273469" y="478565"/>
            <a:ext cx="4629425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1"/>
          <p:cNvSpPr/>
          <p:nvPr/>
        </p:nvSpPr>
        <p:spPr>
          <a:xfrm>
            <a:off x="7016097" y="478565"/>
            <a:ext cx="4902434" cy="6802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1"/>
          <p:cNvSpPr txBox="1"/>
          <p:nvPr/>
        </p:nvSpPr>
        <p:spPr>
          <a:xfrm>
            <a:off x="495656" y="495511"/>
            <a:ext cx="3888337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/>
          </a:p>
        </p:txBody>
      </p:sp>
      <p:sp>
        <p:nvSpPr>
          <p:cNvPr id="291" name="Google Shape;291;p31"/>
          <p:cNvSpPr txBox="1"/>
          <p:nvPr/>
        </p:nvSpPr>
        <p:spPr>
          <a:xfrm>
            <a:off x="7748178" y="495511"/>
            <a:ext cx="3888337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Challenges</a:t>
            </a:r>
            <a:endParaRPr/>
          </a:p>
        </p:txBody>
      </p:sp>
      <p:sp>
        <p:nvSpPr>
          <p:cNvPr id="292" name="Google Shape;292;p31"/>
          <p:cNvSpPr txBox="1"/>
          <p:nvPr/>
        </p:nvSpPr>
        <p:spPr>
          <a:xfrm>
            <a:off x="481378" y="1810328"/>
            <a:ext cx="4213605" cy="37700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Accurate exercise tracking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Fresh meal plans every request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Secure multi-user environment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Reliable cloud storage</a:t>
            </a:r>
            <a:endParaRPr/>
          </a:p>
        </p:txBody>
      </p:sp>
      <p:sp>
        <p:nvSpPr>
          <p:cNvPr id="293" name="Google Shape;293;p31"/>
          <p:cNvSpPr txBox="1"/>
          <p:nvPr/>
        </p:nvSpPr>
        <p:spPr>
          <a:xfrm>
            <a:off x="7360511" y="1810328"/>
            <a:ext cx="4213605" cy="37700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Authentication layer for user sessions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Meal module using Spoonacular API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Exercise module using Back4App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Combined application layer</a:t>
            </a:r>
            <a:endParaRPr/>
          </a:p>
        </p:txBody>
      </p:sp>
      <p:sp>
        <p:nvSpPr>
          <p:cNvPr id="294" name="Google Shape;294;p31"/>
          <p:cNvSpPr/>
          <p:nvPr/>
        </p:nvSpPr>
        <p:spPr>
          <a:xfrm flipH="1">
            <a:off x="-51595" y="1480877"/>
            <a:ext cx="12344400" cy="457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5" name="Google Shape;295;p31" title="results-icon-png-1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1949" y="4349399"/>
            <a:ext cx="1544971" cy="168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1" title="challeng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3578" y="4561573"/>
            <a:ext cx="1471850" cy="147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2"/>
          <p:cNvSpPr txBox="1"/>
          <p:nvPr>
            <p:ph type="title"/>
          </p:nvPr>
        </p:nvSpPr>
        <p:spPr>
          <a:xfrm>
            <a:off x="2527299" y="681036"/>
            <a:ext cx="380513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/>
              <a:t>Lessons Learned</a:t>
            </a:r>
            <a:endParaRPr/>
          </a:p>
        </p:txBody>
      </p:sp>
      <p:sp>
        <p:nvSpPr>
          <p:cNvPr id="302" name="Google Shape;302;p32"/>
          <p:cNvSpPr txBox="1"/>
          <p:nvPr/>
        </p:nvSpPr>
        <p:spPr>
          <a:xfrm>
            <a:off x="7748930" y="681036"/>
            <a:ext cx="3805135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 sz="36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Lessons Learned</a:t>
            </a:r>
            <a:endParaRPr/>
          </a:p>
        </p:txBody>
      </p:sp>
      <p:sp>
        <p:nvSpPr>
          <p:cNvPr id="303" name="Google Shape;303;p32"/>
          <p:cNvSpPr/>
          <p:nvPr/>
        </p:nvSpPr>
        <p:spPr>
          <a:xfrm rot="-2332232">
            <a:off x="-440560" y="115665"/>
            <a:ext cx="3011420" cy="894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2019621" y="1810328"/>
            <a:ext cx="4213605" cy="37700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Stateless design improves freshness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Cloud databases improve persistence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Authentication is critical</a:t>
            </a:r>
            <a:endParaRPr/>
          </a:p>
        </p:txBody>
      </p:sp>
      <p:sp>
        <p:nvSpPr>
          <p:cNvPr id="305" name="Google Shape;305;p32"/>
          <p:cNvSpPr txBox="1"/>
          <p:nvPr/>
        </p:nvSpPr>
        <p:spPr>
          <a:xfrm>
            <a:off x="7360511" y="1810328"/>
            <a:ext cx="4213605" cy="37700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Add Face ID/Touch ID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Expand nutrition APIs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Optional meal history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UI improvements</a:t>
            </a:r>
            <a:endParaRPr/>
          </a:p>
          <a:p>
            <a:pPr indent="-228600" lvl="0" marL="228600" marR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Advanced exercise tracking</a:t>
            </a:r>
            <a:endParaRPr/>
          </a:p>
        </p:txBody>
      </p:sp>
      <p:pic>
        <p:nvPicPr>
          <p:cNvPr id="306" name="Google Shape;306;p32" title="lessons learn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1600" y="4301800"/>
            <a:ext cx="1714821" cy="1714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3"/>
          <p:cNvSpPr txBox="1"/>
          <p:nvPr/>
        </p:nvSpPr>
        <p:spPr>
          <a:xfrm>
            <a:off x="1710586" y="547232"/>
            <a:ext cx="8826500" cy="10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lang="en-US" sz="36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312" name="Google Shape;312;p33"/>
          <p:cNvSpPr txBox="1"/>
          <p:nvPr/>
        </p:nvSpPr>
        <p:spPr>
          <a:xfrm>
            <a:off x="776177" y="1825625"/>
            <a:ext cx="10639645" cy="35023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marR="0" rtl="0" algn="ct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Successfully built a fitness + meal planning system</a:t>
            </a:r>
            <a:endParaRPr/>
          </a:p>
          <a:p>
            <a:pPr indent="-228600" lvl="0" marL="228600" marR="0" rtl="0" algn="ctr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Combines real-time data with persistent tracking</a:t>
            </a:r>
            <a:endParaRPr/>
          </a:p>
          <a:p>
            <a:pPr indent="-228600" lvl="0" marL="228600" marR="0" rtl="0" algn="ctr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Scalable and user-focused solution</a:t>
            </a:r>
            <a:endParaRPr/>
          </a:p>
        </p:txBody>
      </p:sp>
      <p:pic>
        <p:nvPicPr>
          <p:cNvPr id="313" name="Google Shape;313;p33" title="conclus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75" y="3857350"/>
            <a:ext cx="1828600" cy="18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71F3E"/>
      </a:accent1>
      <a:accent2>
        <a:srgbClr val="C4960B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